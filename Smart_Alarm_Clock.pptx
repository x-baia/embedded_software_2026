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HIhh+a8bBeZQ5X0cPoY/QVl8H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6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Smart Alarm Clock built on ESP32 with FreeRTOS. Four hardware interfaces: I2C sensors, UART audio, GPIO button, Wi-Fi networking.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alarm_manager.c is the central hub. Four FreeRTOS tasks run concurrently, all writing to shared alarm state guarded by a mutex. The alarm_entry_t struct carries both configuration and runtime state per alarm.</a:t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I2C requires a manual trigger then a wait before reading. Wi-Fi uses async event callbacks — the button deliberately does NOT use GPIO interrupts, using polling instead for deterministic debounce. DFPlayer commands are always sent outside the mutex lock.</a:t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representative snippets: alarm scheduling with day-key dedup, button debounce with double-press, AHT20 fixed-point decoding, and DFPlayer 10-byte UART protocol with checksum.</a:t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member owned a hardware-interface module. Testing was done module-by-module then full integration. Key problems: multi-alarm audio state conflicts, unreliable long-press stop, and race conditions on shared state.</a:t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achieves all core goals. Future directions: OTA updates, cloud sync, custom alarm tracks, and additional sensors for richer context-awareness.</a:t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231630" y="438845"/>
            <a:ext cx="530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Alarm Clock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31567" y="1316678"/>
            <a:ext cx="530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lang="en-US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Baietta Filippo, Lancorai Daniel, Strozzi Chiara, Cannone Gaetano.</a:t>
            </a:r>
            <a:endParaRPr b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390" y="2061560"/>
            <a:ext cx="27432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291830" y="2061585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FreeRTOS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343390" y="2198745"/>
            <a:ext cx="0" cy="411600"/>
          </a:xfrm>
          <a:prstGeom prst="straightConnector1">
            <a:avLst/>
          </a:prstGeom>
          <a:noFill/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434830" y="2061585"/>
            <a:ext cx="141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 concurrent tasks</a:t>
            </a:r>
            <a:r>
              <a:rPr lang="en-US" sz="9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: sensor, button, alarm and network client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71900" y="3144825"/>
            <a:ext cx="20973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88201" y="3144825"/>
            <a:ext cx="837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I2C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1171765" y="3281993"/>
            <a:ext cx="0" cy="411600"/>
          </a:xfrm>
          <a:prstGeom prst="straightConnector1">
            <a:avLst/>
          </a:prstGeom>
          <a:noFill/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1263201" y="3144825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AHT20 + ENS160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406200" y="3144850"/>
            <a:ext cx="20973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406300" y="3144825"/>
            <a:ext cx="95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2B6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406090" y="3281992"/>
            <a:ext cx="0" cy="411600"/>
          </a:xfrm>
          <a:prstGeom prst="straightConnector1">
            <a:avLst/>
          </a:prstGeom>
          <a:noFill/>
          <a:ln cap="flat" cmpd="sng" w="9525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497526" y="3144838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DFPlayer Mini audio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640500" y="3144825"/>
            <a:ext cx="20973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640725" y="3144825"/>
            <a:ext cx="95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1"/>
          <p:cNvCxnSpPr/>
          <p:nvPr/>
        </p:nvCxnSpPr>
        <p:spPr>
          <a:xfrm>
            <a:off x="5640390" y="3281928"/>
            <a:ext cx="0" cy="411600"/>
          </a:xfrm>
          <a:prstGeom prst="straightConnector1">
            <a:avLst/>
          </a:prstGeom>
          <a:noFill/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"/>
          <p:cNvSpPr/>
          <p:nvPr/>
        </p:nvSpPr>
        <p:spPr>
          <a:xfrm>
            <a:off x="5731826" y="3144813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Local dashboard sync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874800" y="3144875"/>
            <a:ext cx="20973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875025" y="3144875"/>
            <a:ext cx="95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GPIO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7874690" y="3282026"/>
            <a:ext cx="0" cy="411600"/>
          </a:xfrm>
          <a:prstGeom prst="straightConnector1">
            <a:avLst/>
          </a:prstGeom>
          <a:noFill/>
          <a:ln cap="flat" cmpd="sng" w="95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1"/>
          <p:cNvSpPr/>
          <p:nvPr/>
        </p:nvSpPr>
        <p:spPr>
          <a:xfrm>
            <a:off x="7966202" y="3144925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Button poll + debounce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Software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structure · FreeRTOS tasks · Shared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7360" y="1993390"/>
            <a:ext cx="2377500" cy="685800"/>
          </a:xfrm>
          <a:prstGeom prst="rect">
            <a:avLst/>
          </a:prstGeom>
          <a:solidFill>
            <a:srgbClr val="0B1929"/>
          </a:solidFill>
          <a:ln cap="flat" cmpd="sng" w="228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737360" y="1993390"/>
            <a:ext cx="237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alarm_manager.c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Shared State + Mutex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783080" y="1097280"/>
            <a:ext cx="228600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783080" y="109728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main.c / FreeRTOS tasks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690" y="1636780"/>
            <a:ext cx="12345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65690" y="163676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i2c_sensors.c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52" y="2670048"/>
            <a:ext cx="12345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65740" y="2670060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user_button.c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251960" y="1636780"/>
            <a:ext cx="132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251960" y="1636793"/>
            <a:ext cx="132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network_client.c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251960" y="2670053"/>
            <a:ext cx="132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251960" y="2679190"/>
            <a:ext cx="132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wifi_manager.c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783105" y="3054098"/>
            <a:ext cx="228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783105" y="3054098"/>
            <a:ext cx="228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audio_player.c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852160" y="914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FreeRTOS 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852160" y="1234440"/>
            <a:ext cx="292608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852160" y="1234440"/>
            <a:ext cx="54864" cy="62179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989320" y="128016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Sensor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989320" y="155448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2 s  ·  I2C AHT20/ENS160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852160" y="2039112"/>
            <a:ext cx="292608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852160" y="2039112"/>
            <a:ext cx="54864" cy="62179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989320" y="208483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Button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989320" y="235915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20 ms  ·  GPIO poll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852160" y="2843784"/>
            <a:ext cx="292608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852160" y="2843784"/>
            <a:ext cx="54864" cy="62179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5989320" y="288950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Alarm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989320" y="316382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1 s  ·  schedule</a:t>
            </a: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 alarms evaluation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852160" y="3648456"/>
            <a:ext cx="292608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5852160" y="3648456"/>
            <a:ext cx="54864" cy="62179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5989320" y="369417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Network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989320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periodic  ·  HTTP GET/POST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20040" y="3703320"/>
            <a:ext cx="5303520" cy="548640"/>
          </a:xfrm>
          <a:prstGeom prst="rect">
            <a:avLst/>
          </a:prstGeom>
          <a:solidFill>
            <a:srgbClr val="EFF6FF"/>
          </a:solidFill>
          <a:ln cap="flat" cmpd="sng" w="10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57200" y="3721608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Key data structure:  alarm_entry_t  — config fields (hour, minute, days_mask, volume, track) + runtime fields (active, snoozed_until_epoch, snoozed_until_uptime_ms, last_fired_day_key).  Protected by FreeRTOS mutex.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HW/SW Interaction &amp; Interrupts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the system senses, processes, and reacts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0040" y="1005840"/>
            <a:ext cx="4160520" cy="178308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20040" y="1005840"/>
            <a:ext cx="658368" cy="34747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20040" y="100584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I2C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069848" y="1042416"/>
            <a:ext cx="3319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 Acquisition (AHT20 / ENS160)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50" y="1540425"/>
            <a:ext cx="3977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EFF6FF"/>
                </a:solidFill>
                <a:latin typeface="Calibri"/>
                <a:ea typeface="Calibri"/>
                <a:cs typeface="Calibri"/>
                <a:sym typeface="Calibri"/>
              </a:rPr>
              <a:t>continuously</a:t>
            </a:r>
            <a:r>
              <a:rPr lang="en-US" sz="900">
                <a:solidFill>
                  <a:srgbClr val="EFF6FF"/>
                </a:solidFill>
                <a:latin typeface="Calibri"/>
                <a:ea typeface="Calibri"/>
                <a:cs typeface="Calibri"/>
                <a:sym typeface="Calibri"/>
              </a:rPr>
              <a:t> polls every 2 seconds </a:t>
            </a:r>
            <a:r>
              <a:rPr lang="en-US" sz="900">
                <a:solidFill>
                  <a:srgbClr val="EFF6FF"/>
                </a:solidFill>
              </a:rPr>
              <a:t>an </a:t>
            </a:r>
            <a:r>
              <a:rPr b="1" lang="en-US" sz="900">
                <a:solidFill>
                  <a:srgbClr val="EFF6FF"/>
                </a:solidFill>
              </a:rPr>
              <a:t>AHT20</a:t>
            </a:r>
            <a:r>
              <a:rPr lang="en-US" sz="900">
                <a:solidFill>
                  <a:srgbClr val="EFF6FF"/>
                </a:solidFill>
              </a:rPr>
              <a:t> sensor (Temperature/Humidity) and an </a:t>
            </a:r>
            <a:r>
              <a:rPr b="1" lang="en-US" sz="900">
                <a:solidFill>
                  <a:srgbClr val="EFF6FF"/>
                </a:solidFill>
              </a:rPr>
              <a:t>ENS160</a:t>
            </a:r>
            <a:r>
              <a:rPr lang="en-US" sz="900">
                <a:solidFill>
                  <a:srgbClr val="EFF6FF"/>
                </a:solidFill>
              </a:rPr>
              <a:t> sensor (Air Quality).</a:t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applies bit shifting converting the raw bytes into meaningful integer and float device. Applies specific sensor formulas to compute exact values and validates data readiness</a:t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outputs real-time readings to the web application</a:t>
            </a:r>
            <a:endParaRPr sz="900">
              <a:solidFill>
                <a:srgbClr val="EFF6FF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754880" y="1005840"/>
            <a:ext cx="4160520" cy="178308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754880" y="1005840"/>
            <a:ext cx="658368" cy="34747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754880" y="100584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WIFI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504688" y="1042416"/>
            <a:ext cx="3319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Wi-Fi Events (ESP-IDF callbacks)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846325" y="1444750"/>
            <a:ext cx="39777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EFF6FF"/>
                </a:solidFill>
                <a:latin typeface="Calibri"/>
                <a:ea typeface="Calibri"/>
                <a:cs typeface="Calibri"/>
                <a:sym typeface="Calibri"/>
              </a:rPr>
              <a:t>Monitors system-level ESP-IDF broadcast events rather than polling manually.</a:t>
            </a:r>
            <a:endParaRPr sz="900">
              <a:solidFill>
                <a:srgbClr val="EF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EFF6FF"/>
                </a:solidFill>
                <a:latin typeface="Calibri"/>
                <a:ea typeface="Calibri"/>
                <a:cs typeface="Calibri"/>
                <a:sym typeface="Calibri"/>
              </a:rPr>
              <a:t>captures 3 network transitions: WIFI_EVENT_STA_START,WIFI_EVENT_STA_DISCONNECTED, IP_EVENT_STA_GOT_IP</a:t>
            </a:r>
            <a:endParaRPr sz="900">
              <a:solidFill>
                <a:srgbClr val="EF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EFF6FF"/>
                </a:solidFill>
                <a:latin typeface="Calibri"/>
                <a:ea typeface="Calibri"/>
                <a:cs typeface="Calibri"/>
                <a:sym typeface="Calibri"/>
              </a:rPr>
              <a:t>translates raw events into thread-safe status flags for other software modules to read </a:t>
            </a:r>
            <a:endParaRPr sz="900">
              <a:solidFill>
                <a:srgbClr val="EF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EFF6FF"/>
                </a:solidFill>
              </a:rPr>
              <a:t>Instantly triggers a fresh connection request (</a:t>
            </a:r>
            <a:r>
              <a:rPr lang="en-US" sz="900">
                <a:solidFill>
                  <a:srgbClr val="EFF6FF"/>
                </a:solidFill>
                <a:latin typeface="Roboto Mono"/>
                <a:ea typeface="Roboto Mono"/>
                <a:cs typeface="Roboto Mono"/>
                <a:sym typeface="Roboto Mono"/>
              </a:rPr>
              <a:t>esp_wifi_connect()</a:t>
            </a:r>
            <a:r>
              <a:rPr lang="en-US" sz="900">
                <a:solidFill>
                  <a:srgbClr val="EFF6FF"/>
                </a:solidFill>
              </a:rPr>
              <a:t>) the moment a disconnection event occurs.</a:t>
            </a:r>
            <a:endParaRPr sz="900">
              <a:solidFill>
                <a:srgbClr val="EFF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20040" y="2971800"/>
            <a:ext cx="4160520" cy="178308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20040" y="2971800"/>
            <a:ext cx="658368" cy="34747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20040" y="297180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GPIO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069848" y="3008376"/>
            <a:ext cx="3319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Button — Polling, NOT interrupts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11450" y="3502154"/>
            <a:ext cx="39777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Reads physical voltage levels on </a:t>
            </a:r>
            <a:r>
              <a:rPr b="1" lang="en-US" sz="900">
                <a:solidFill>
                  <a:srgbClr val="EFF6FF"/>
                </a:solidFill>
              </a:rPr>
              <a:t>GPIO 4</a:t>
            </a:r>
            <a:endParaRPr b="1"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continuous</a:t>
            </a:r>
            <a:r>
              <a:rPr lang="en-US" sz="900">
                <a:solidFill>
                  <a:srgbClr val="EFF6FF"/>
                </a:solidFill>
              </a:rPr>
              <a:t> polling every 20 milliseconds</a:t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Measures the time window between consecutive stable presses as the double pressing stops the alarm</a:t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1 press: snooze the alarm</a:t>
            </a:r>
            <a:endParaRPr sz="900">
              <a:solidFill>
                <a:srgbClr val="EFF6FF"/>
              </a:solidFill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754880" y="2971800"/>
            <a:ext cx="4160520" cy="178308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754880" y="2971800"/>
            <a:ext cx="658368" cy="347472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754880" y="297180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504688" y="3008376"/>
            <a:ext cx="3319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Audio Output (DFPlayer Mini)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846325" y="3264475"/>
            <a:ext cx="3977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Claims physical control of </a:t>
            </a:r>
            <a:r>
              <a:rPr b="1" lang="en-US" sz="900">
                <a:solidFill>
                  <a:srgbClr val="EFF6FF"/>
                </a:solidFill>
              </a:rPr>
              <a:t>GPIO 17</a:t>
            </a:r>
            <a:r>
              <a:rPr lang="en-US" sz="900">
                <a:solidFill>
                  <a:srgbClr val="EFF6FF"/>
                </a:solidFill>
              </a:rPr>
              <a:t> (Transmit/TX) and </a:t>
            </a:r>
            <a:r>
              <a:rPr b="1" lang="en-US" sz="900">
                <a:solidFill>
                  <a:srgbClr val="EFF6FF"/>
                </a:solidFill>
              </a:rPr>
              <a:t>GPIO 16</a:t>
            </a:r>
            <a:endParaRPr b="1"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Translates standard commands (like volume or play) into strict </a:t>
            </a:r>
            <a:r>
              <a:rPr b="1" lang="en-US" sz="900">
                <a:solidFill>
                  <a:srgbClr val="EFF6FF"/>
                </a:solidFill>
              </a:rPr>
              <a:t>10-byte data packets</a:t>
            </a:r>
            <a:r>
              <a:rPr lang="en-US" sz="900">
                <a:solidFill>
                  <a:srgbClr val="EFF6FF"/>
                </a:solidFill>
              </a:rPr>
              <a:t> required by the MP3 module chip.</a:t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</a:rPr>
              <a:t>Restricts software-driven requests to absolute safety thresholds, hard-clapping the volume limit at a maximum value of </a:t>
            </a:r>
            <a:r>
              <a:rPr b="1" lang="en-US" sz="900">
                <a:solidFill>
                  <a:srgbClr val="EFF6FF"/>
                </a:solidFill>
              </a:rPr>
              <a:t>30</a:t>
            </a:r>
            <a:r>
              <a:rPr lang="en-US" sz="900">
                <a:solidFill>
                  <a:srgbClr val="EFF6FF"/>
                </a:solidFill>
              </a:rPr>
              <a:t>.</a:t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  <a:latin typeface="Roboto Mono"/>
                <a:ea typeface="Roboto Mono"/>
                <a:cs typeface="Roboto Mono"/>
                <a:sym typeface="Roboto Mono"/>
              </a:rPr>
              <a:t>audio_player_alarm: </a:t>
            </a:r>
            <a:r>
              <a:rPr lang="en-US" sz="900">
                <a:solidFill>
                  <a:srgbClr val="EFF6FF"/>
                </a:solidFill>
              </a:rPr>
              <a:t> Forces the player to execute command </a:t>
            </a:r>
            <a:r>
              <a:rPr lang="en-US" sz="900">
                <a:solidFill>
                  <a:srgbClr val="EFF6FF"/>
                </a:solidFill>
                <a:latin typeface="Roboto Mono"/>
                <a:ea typeface="Roboto Mono"/>
                <a:cs typeface="Roboto Mono"/>
                <a:sym typeface="Roboto Mono"/>
              </a:rPr>
              <a:t>0x12</a:t>
            </a:r>
            <a:r>
              <a:rPr lang="en-US" sz="900">
                <a:solidFill>
                  <a:srgbClr val="EFF6FF"/>
                </a:solidFill>
              </a:rPr>
              <a:t> to fire up a specific track from the SD card.</a:t>
            </a:r>
            <a:endParaRPr sz="900">
              <a:solidFill>
                <a:srgbClr val="EFF6FF"/>
              </a:solidFill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FF6FF"/>
              </a:buClr>
              <a:buSzPts val="900"/>
              <a:buChar char="●"/>
            </a:pPr>
            <a:r>
              <a:rPr lang="en-US" sz="900">
                <a:solidFill>
                  <a:srgbClr val="EFF6FF"/>
                </a:solidFill>
                <a:latin typeface="Roboto Mono"/>
                <a:ea typeface="Roboto Mono"/>
                <a:cs typeface="Roboto Mono"/>
                <a:sym typeface="Roboto Mono"/>
              </a:rPr>
              <a:t>audio_player_stop</a:t>
            </a:r>
            <a:r>
              <a:rPr lang="en-US" sz="900">
                <a:solidFill>
                  <a:srgbClr val="EFF6FF"/>
                </a:solidFill>
              </a:rPr>
              <a:t>: Forces command </a:t>
            </a:r>
            <a:r>
              <a:rPr lang="en-US" sz="900">
                <a:solidFill>
                  <a:srgbClr val="EFF6FF"/>
                </a:solidFill>
                <a:latin typeface="Roboto Mono"/>
                <a:ea typeface="Roboto Mono"/>
                <a:cs typeface="Roboto Mono"/>
                <a:sym typeface="Roboto Mono"/>
              </a:rPr>
              <a:t>0x16</a:t>
            </a:r>
            <a:r>
              <a:rPr lang="en-US" sz="900">
                <a:solidFill>
                  <a:srgbClr val="EFF6FF"/>
                </a:solidFill>
              </a:rPr>
              <a:t> to immediately kill any audio playback.</a:t>
            </a:r>
            <a:endParaRPr sz="900">
              <a:solidFill>
                <a:srgbClr val="EFF6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Representative Code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1033272"/>
            <a:ext cx="397764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// Fires once per day at configured time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if (alarm_runs_today(alarm, &amp;local_now) &amp;&amp;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local_now.tm_hour == alarm-&gt;hour &amp;&amp;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local_now.tm_min  == alarm-&gt;minute &amp;&amp;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alarm-&gt;last_fired_day_key != today_key)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alarm-&gt;active            = true;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alarm-&gt;last_fired_day_key = today_key;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9785" y="627560"/>
            <a:ext cx="416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Alarm scheduling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35208" y="591760"/>
            <a:ext cx="416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Button debounce &amp; press detection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85650" y="3077652"/>
            <a:ext cx="3977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// AHT20: decode 20-bit raw values from 6 bytes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uint32_t hum_raw = ((uint32_t)data[1]&lt;&lt;12)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| ((uint32_t)data[2]&lt;&lt;4) | (data[3]&gt;&gt;4);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float humidity = hum_raw * 100.0f / 1048576.0f;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uint32_t tmp_raw = ((uint32_t)(data[3]&amp;0x0F)&lt;&lt;16)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| ((uint32_t)data[4]&lt;&lt;8) | data[5];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float temp = tmp_raw * 200.0f / 1048576.0f - 50.0f;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9785" y="2816340"/>
            <a:ext cx="416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AHT20 sensor decoding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35208" y="2816340"/>
            <a:ext cx="416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72B6"/>
                </a:solidFill>
                <a:latin typeface="Calibri"/>
                <a:ea typeface="Calibri"/>
                <a:cs typeface="Calibri"/>
                <a:sym typeface="Calibri"/>
              </a:rPr>
              <a:t>DFPlayer UART packet + checksum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title="codesnapshot (1).png"/>
          <p:cNvPicPr preferRelativeResize="0"/>
          <p:nvPr/>
        </p:nvPicPr>
        <p:blipFill rotWithShape="1">
          <a:blip r:embed="rId3">
            <a:alphaModFix/>
          </a:blip>
          <a:srcRect b="10872" l="3588" r="4416" t="10058"/>
          <a:stretch/>
        </p:blipFill>
        <p:spPr>
          <a:xfrm>
            <a:off x="99713" y="869976"/>
            <a:ext cx="4160524" cy="1716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 title="codesnapshot (2).png"/>
          <p:cNvPicPr preferRelativeResize="0"/>
          <p:nvPr/>
        </p:nvPicPr>
        <p:blipFill rotWithShape="1">
          <a:blip r:embed="rId4">
            <a:alphaModFix/>
          </a:blip>
          <a:srcRect b="13790" l="9000" r="9400" t="13819"/>
          <a:stretch/>
        </p:blipFill>
        <p:spPr>
          <a:xfrm>
            <a:off x="4515350" y="863125"/>
            <a:ext cx="4343399" cy="173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 title="codesnapshot (3).png"/>
          <p:cNvPicPr preferRelativeResize="0"/>
          <p:nvPr/>
        </p:nvPicPr>
        <p:blipFill rotWithShape="1">
          <a:blip r:embed="rId5">
            <a:alphaModFix/>
          </a:blip>
          <a:srcRect b="16775" l="1480" r="3634" t="11075"/>
          <a:stretch/>
        </p:blipFill>
        <p:spPr>
          <a:xfrm>
            <a:off x="99725" y="3063801"/>
            <a:ext cx="4160402" cy="171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title="codesnapshot (4).png"/>
          <p:cNvPicPr preferRelativeResize="0"/>
          <p:nvPr/>
        </p:nvPicPr>
        <p:blipFill rotWithShape="1">
          <a:blip r:embed="rId6">
            <a:alphaModFix/>
          </a:blip>
          <a:srcRect b="11807" l="2705" r="5299" t="10824"/>
          <a:stretch/>
        </p:blipFill>
        <p:spPr>
          <a:xfrm>
            <a:off x="4535200" y="3070800"/>
            <a:ext cx="4303701" cy="17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Team Contributions &amp; Testing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65760" y="6583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Contributions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60" y="1005840"/>
            <a:ext cx="393192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365760" y="1005840"/>
            <a:ext cx="54864" cy="548640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02920" y="1097280"/>
            <a:ext cx="822960" cy="347472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02920" y="109728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Daniel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417320" y="1042416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audio_player.c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417320" y="129844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DFPlayer UART, packet framing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1645920"/>
            <a:ext cx="393192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1645920"/>
            <a:ext cx="54864" cy="5486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02920" y="1737360"/>
            <a:ext cx="822960" cy="34747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02920" y="173736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Filippo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417320" y="1682496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wifi_manager.c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417320" y="193852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Station connect, event callbacks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65760" y="2286000"/>
            <a:ext cx="393192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65760" y="2286000"/>
            <a:ext cx="54864" cy="5486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02920" y="2377440"/>
            <a:ext cx="822960" cy="34747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02920" y="237744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Gaetano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417320" y="2322576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user_button.c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417320" y="257860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GPIO poll, debounce, press logic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2926080"/>
            <a:ext cx="393192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65760" y="2926080"/>
            <a:ext cx="54864" cy="5486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02920" y="3017520"/>
            <a:ext cx="822960" cy="34747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02920" y="30175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Chiara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417320" y="2962656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i2c_sensors.c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417320" y="321868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AHT20 &amp; ENS160 polling, conversion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65760" y="3566160"/>
            <a:ext cx="393192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65760" y="3566160"/>
            <a:ext cx="54864" cy="548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02920" y="3657600"/>
            <a:ext cx="82296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502920" y="365760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417320" y="3602736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alarm_manager · main · network ·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417320" y="385876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Equally developed by 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0" y="65836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Testing &amp; Problems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572000" y="1005840"/>
            <a:ext cx="420624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572000" y="1005840"/>
            <a:ext cx="54864" cy="548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709160" y="103327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Multi-alarm audio conflicts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709160" y="128016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Cached audio state; oldest alarm wins; UART after unlock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572000" y="1645920"/>
            <a:ext cx="420624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572000" y="1645920"/>
            <a:ext cx="54864" cy="548640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709160" y="167335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Stop via 2-sec hold — unreliable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709160" y="192024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Replaced with 2 quick presses within 2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72000" y="2286000"/>
            <a:ext cx="420624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4572000" y="2286000"/>
            <a:ext cx="54864" cy="5486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709160" y="231343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Button bounce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709160" y="256032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80 ms debounce window, 20 ms poll interval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572000" y="2926080"/>
            <a:ext cx="420624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572000" y="2926080"/>
            <a:ext cx="54864" cy="5486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709160" y="295351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AHT20 / ENS160 reliability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709160" y="320040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100 ms conversion delay; ENS160 re-probed every 10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572000" y="3566160"/>
            <a:ext cx="420624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572000" y="3566160"/>
            <a:ext cx="54864" cy="5486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4709160" y="359359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Race conditions on shared state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709160" y="384048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FreeRTOS mutex; hardware ops outside locked region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02530" y="800105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02517" y="143789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02518" y="1776218"/>
            <a:ext cx="201300" cy="2013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95126" y="1739642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FreeRTOS multi-task firmware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02518" y="2251706"/>
            <a:ext cx="201300" cy="2013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95126" y="221513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Mutex-protected shared alarm state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02518" y="2727194"/>
            <a:ext cx="201300" cy="2013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95126" y="269061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Multi-alarm scheduling with day masks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02518" y="3202682"/>
            <a:ext cx="201300" cy="2013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95126" y="3166106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Sensor comfort alerts (temp/humidity/AQI)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02518" y="3678170"/>
            <a:ext cx="201300" cy="2013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695126" y="3641594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Snooze &amp; stop via button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02518" y="4153658"/>
            <a:ext cx="201300" cy="2013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695126" y="4117082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Local dashboard alarm sync &amp; monitoring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850060" y="1437902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Hardware </a:t>
            </a:r>
            <a:r>
              <a:rPr b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(future work)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850060" y="1776231"/>
            <a:ext cx="54900" cy="2559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978076" y="1739654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Custom protective enclosure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850060" y="2251719"/>
            <a:ext cx="54900" cy="2559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978076" y="2215143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Better speaker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850060" y="2727207"/>
            <a:ext cx="54900" cy="2559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3978076" y="2690631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Improved power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819505" y="1437890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1" lang="en-US" sz="110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 (future work)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819505" y="1776218"/>
            <a:ext cx="54900" cy="2559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947521" y="173964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OTA firmware updates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819493" y="2197094"/>
            <a:ext cx="54900" cy="2559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947509" y="2160518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Cloud sync &amp; remote notifications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819493" y="2672582"/>
            <a:ext cx="54900" cy="2559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6947509" y="2636006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Multiple user profiles &amp; alarm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511145" y="1437890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2026-06-08T13:16:25Z</dcterms:created>
  <dc:creator>PptxGenJS</dc:creator>
</cp:coreProperties>
</file>